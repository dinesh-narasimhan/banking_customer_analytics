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61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Banking Customer Analytics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638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insights from 3,000+ customer records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089565"/>
            <a:ext cx="3035379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5157549"/>
            <a:ext cx="27632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BANKING &amp; FINANCIAL SERVICES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428917" y="5081945"/>
            <a:ext cx="240184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72625" y="5157549"/>
            <a:ext cx="211443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· SQL · TABLEAU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1724858"/>
            <a:ext cx="181451" cy="18145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5967" y="1670447"/>
            <a:ext cx="184499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93790" y="211943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Uncovering Customer Value &amp; Risk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793790" y="3877151"/>
            <a:ext cx="2367558" cy="2749987"/>
          </a:xfrm>
          <a:prstGeom prst="roundRect">
            <a:avLst>
              <a:gd name="adj" fmla="val 1437"/>
            </a:avLst>
          </a:prstGeom>
          <a:solidFill>
            <a:srgbClr val="EAE8F3"/>
          </a:solidFill>
          <a:ln/>
        </p:spPr>
      </p:sp>
      <p:sp>
        <p:nvSpPr>
          <p:cNvPr id="7" name="Text 3"/>
          <p:cNvSpPr/>
          <p:nvPr/>
        </p:nvSpPr>
        <p:spPr>
          <a:xfrm>
            <a:off x="1020604" y="4103965"/>
            <a:ext cx="19139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Uneven Distribution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4948714"/>
            <a:ext cx="19139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segment drives majority of deposits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3388162" y="3877151"/>
            <a:ext cx="2367558" cy="2749987"/>
          </a:xfrm>
          <a:prstGeom prst="roundRect">
            <a:avLst>
              <a:gd name="adj" fmla="val 1437"/>
            </a:avLst>
          </a:prstGeom>
          <a:solidFill>
            <a:srgbClr val="EAE8F3"/>
          </a:solidFill>
          <a:ln/>
        </p:spPr>
      </p:sp>
      <p:sp>
        <p:nvSpPr>
          <p:cNvPr id="10" name="Text 6"/>
          <p:cNvSpPr/>
          <p:nvPr/>
        </p:nvSpPr>
        <p:spPr>
          <a:xfrm>
            <a:off x="3614976" y="4103965"/>
            <a:ext cx="19139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Exposure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614976" y="4948714"/>
            <a:ext cx="19139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 exposure exceeds deposits for key subset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2533" y="3877151"/>
            <a:ext cx="2367558" cy="2749987"/>
          </a:xfrm>
          <a:prstGeom prst="roundRect">
            <a:avLst>
              <a:gd name="adj" fmla="val 1437"/>
            </a:avLst>
          </a:prstGeom>
          <a:solidFill>
            <a:srgbClr val="EAE8F3"/>
          </a:solidFill>
          <a:ln/>
        </p:spPr>
      </p:sp>
      <p:sp>
        <p:nvSpPr>
          <p:cNvPr id="13" name="Text 9"/>
          <p:cNvSpPr/>
          <p:nvPr/>
        </p:nvSpPr>
        <p:spPr>
          <a:xfrm>
            <a:off x="6209348" y="4103965"/>
            <a:ext cx="19139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Action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209348" y="4948714"/>
            <a:ext cx="19139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informed customer prioritization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7981"/>
            <a:ext cx="68933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Business Challenge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2072"/>
            <a:ext cx="8284131" cy="4694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912745"/>
            <a:ext cx="42051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Leadership lacked consolidated 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848219"/>
            <a:ext cx="4205168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customers contribute most to deposits?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is lending risk concentrated?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do relationship strategies perform?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866915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7E0FF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were reactive, not strategic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65684"/>
            <a:ext cx="2297787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83344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33669"/>
            <a:ext cx="17534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82654"/>
            <a:ext cx="82245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We Set Out to Achieve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23159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86639"/>
            <a:ext cx="4196358" cy="3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3790" y="37609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Quantify Deposits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3790" y="425136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and average across portfolio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216962" y="323159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962" y="3586639"/>
            <a:ext cx="4196358" cy="30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6962" y="37609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Identify Segments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216962" y="425136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High-value and high-risk customers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640133" y="323159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3586639"/>
            <a:ext cx="4196358" cy="30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40133" y="37609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Evaluate Loyalty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640133" y="425136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Classifications vs. actual contribution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93790" y="50111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343525"/>
            <a:ext cx="6407944" cy="30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3790" y="5540454"/>
            <a:ext cx="28652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Assess Performance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793790" y="603087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Advisor and relationship KPIs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7428548" y="50111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8548" y="5343525"/>
            <a:ext cx="6407944" cy="30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428548" y="5540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Support Decisions</a:t>
            </a:r>
            <a:endParaRPr lang="en-US" sz="2200" dirty="0"/>
          </a:p>
        </p:txBody>
      </p:sp>
      <p:sp>
        <p:nvSpPr>
          <p:cNvPr id="25" name="Text 17"/>
          <p:cNvSpPr/>
          <p:nvPr/>
        </p:nvSpPr>
        <p:spPr>
          <a:xfrm>
            <a:off x="7428548" y="603087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numerical evidence for leadership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3827"/>
            <a:ext cx="59096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Portfolio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1958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₹2.01B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871657" y="4351377"/>
            <a:ext cx="2892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Bank Deposits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841796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asset volume under management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31958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₹6.72L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Average Deposit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84179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customer across portfolio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31958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₹2.60B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Lending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84179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loan exposure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331958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3,000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16352" y="4351377"/>
            <a:ext cx="2992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Customers Analyzed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84179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dataset coverage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8227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 lending exposure reinforces need for risk-aware monitoring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416129"/>
            <a:ext cx="181451" cy="1814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5967" y="1361718"/>
            <a:ext cx="13800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93790" y="1810703"/>
            <a:ext cx="58864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Analytical Approach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14794"/>
            <a:ext cx="8284131" cy="29988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01960" y="5381608"/>
            <a:ext cx="2115145" cy="25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Visualize in Tableau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401960" y="4477731"/>
            <a:ext cx="2075226" cy="25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Validate in Python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401960" y="3564632"/>
            <a:ext cx="2075226" cy="25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Aggregate via SQL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3790" y="6051700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applied complementarily to align analytics with business needs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9475589" y="2859643"/>
            <a:ext cx="4531876" cy="4076105"/>
          </a:xfrm>
          <a:prstGeom prst="roundRect">
            <a:avLst>
              <a:gd name="adj" fmla="val 835"/>
            </a:avLst>
          </a:prstGeom>
          <a:solidFill>
            <a:srgbClr val="403CCF"/>
          </a:solidFill>
          <a:ln/>
        </p:spPr>
      </p:sp>
      <p:sp>
        <p:nvSpPr>
          <p:cNvPr id="11" name="Text 7"/>
          <p:cNvSpPr/>
          <p:nvPr/>
        </p:nvSpPr>
        <p:spPr>
          <a:xfrm>
            <a:off x="9702403" y="3614976"/>
            <a:ext cx="29706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Metrics Defined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702403" y="4196120"/>
            <a:ext cx="4078248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&amp; average deposits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Lending exposure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Loan-to-deposit ratios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Loyalty segment deposits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Advisor-level assets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72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Critical Findings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16179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710" y="1816179"/>
            <a:ext cx="121920" cy="17308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924" y="2073473"/>
            <a:ext cx="33052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Deposit Concentration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628924" y="256389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loyalty tiers hold disproportionate share of total deposits. Lower-tier segments show significantly lower balances.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3773805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710" y="3773805"/>
            <a:ext cx="121920" cy="17308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8924" y="4031099"/>
            <a:ext cx="28550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Exposure Alert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628924" y="452151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subset holds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 balances exceeding deposits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indicating elevated financial risk.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5731431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5731431"/>
            <a:ext cx="121920" cy="17308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28924" y="5988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Gaps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628924" y="647914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 number of advisors manage large portion of assets. Material variation in deposit contribution by advisor.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39453"/>
            <a:ext cx="2349579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461849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407438"/>
            <a:ext cx="180522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856423"/>
            <a:ext cx="9270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Actions for Leadership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05363"/>
            <a:ext cx="1767840" cy="1767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4956691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Prioritize High-Value Customers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3790" y="5801439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engagement on highest deposit contributors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905363"/>
            <a:ext cx="1767840" cy="1767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25278" y="4956691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Strengthen Risk Monitoring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125278" y="580143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 reviews for unfavorable loan-to-deposit positions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905363"/>
            <a:ext cx="1767840" cy="17678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4956691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Optimize Advisory Allocation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5801439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 assignments based on measurable performance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905363"/>
            <a:ext cx="1767840" cy="17678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88491" y="4956691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Refine Loyalty Strategy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0788491" y="5801439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Reassess classifications to reflect actual financial value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873" y="1119664"/>
            <a:ext cx="6191845" cy="59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&amp; Monitoring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96873" y="2404229"/>
            <a:ext cx="3858816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Tableau Dashboards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96873" y="2866073"/>
            <a:ext cx="4328636" cy="56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for leadership reviews and ongoing monitoring: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6873" y="3578304"/>
            <a:ext cx="4328636" cy="1416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Deposit and loan distribution by segment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High-value and high-risk customer identification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Advisor-level performance metrics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filters for scenario analysis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6873" y="5177018"/>
            <a:ext cx="4328636" cy="1301234"/>
          </a:xfrm>
          <a:prstGeom prst="roundRect">
            <a:avLst>
              <a:gd name="adj" fmla="val 2211"/>
            </a:avLst>
          </a:prstGeom>
          <a:solidFill>
            <a:srgbClr val="C3C2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683" y="5462173"/>
            <a:ext cx="239792" cy="19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0284" y="5387045"/>
            <a:ext cx="3513415" cy="84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Dashboards enable exploration; this report focuses on insights and decisions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45" y="2144792"/>
            <a:ext cx="8439983" cy="4782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850225"/>
            <a:ext cx="8233886" cy="676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Impact &amp; Next Steps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71" y="2245519"/>
            <a:ext cx="8339257" cy="4725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347" y="2044065"/>
            <a:ext cx="270748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Immediate Impact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3347" y="2589252"/>
            <a:ext cx="4246483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Leadership now has clear visibility into customer value concentration, lending risk, and relationship effectiveness.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633347" y="3945946"/>
            <a:ext cx="4246483" cy="34647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633347" y="4213146"/>
            <a:ext cx="2969657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Opportunities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33347" y="4758333"/>
            <a:ext cx="4246483" cy="135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risk and churn modeling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Time-based trend analysis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Transactional behavior integration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and branch-level expansion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33347" y="6299410"/>
            <a:ext cx="4246483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9495A"/>
                </a:solidFill>
                <a:highlight>
                  <a:srgbClr val="F7F5FF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Raw data converted into decision-ready insights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2026-01-30T07:29:04Z</dcterms:created>
  <dcterms:modified xsi:type="dcterms:W3CDTF">2026-01-30T07:29:04Z</dcterms:modified>
</cp:coreProperties>
</file>